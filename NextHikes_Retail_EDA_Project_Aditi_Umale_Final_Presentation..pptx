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8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11253D"/>
                </a:solidFill>
              </a:defRPr>
            </a:pPr>
            <a:r>
              <a:t>NextHikes IT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262E38"/>
                </a:solidFill>
              </a:defRPr>
            </a:pPr>
            <a:r>
              <a:t>Exploratory Data Analysis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2F66B0"/>
                </a:solidFill>
              </a:defRPr>
            </a:pPr>
            <a:r>
              <a:t>Large-Scale Retail Transaction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7280"/>
                </a:solidFill>
              </a:defRPr>
            </a:pPr>
            <a:r>
              <a:t>Using Univariate, Bivariate, and Multivariate Statistical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73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7280"/>
                </a:solidFill>
              </a:defRPr>
            </a:pPr>
            <a:r>
              <a:t>Project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1253D"/>
                </a:solidFill>
              </a:defRPr>
            </a:pPr>
            <a:r>
              <a:t>Aditi Umale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280"/>
                </a:solidFill>
              </a:defRPr>
            </a:pPr>
            <a:r>
              <a:t>NextHikes IT Solutions  |  Aditi Umale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3832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D"/>
                </a:solidFill>
              </a:defRPr>
            </a:pPr>
            <a:r>
              <a:t>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431399"/>
            <a:ext cx="103327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Perform </a:t>
            </a:r>
            <a:r>
              <a:rPr lang="en-IN" b="1" dirty="0"/>
              <a:t>univariate, bivariate, and multivariate analysis </a:t>
            </a:r>
            <a:endParaRPr lang="en-IN" dirty="0"/>
          </a:p>
          <a:p>
            <a:r>
              <a:rPr lang="en-IN" b="1" dirty="0"/>
              <a:t> </a:t>
            </a:r>
            <a:endParaRPr lang="en-IN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Detect and interpret </a:t>
            </a:r>
            <a:r>
              <a:rPr lang="en-IN" b="1" dirty="0"/>
              <a:t>outliers </a:t>
            </a:r>
            <a:endParaRPr lang="en-IN" dirty="0"/>
          </a:p>
          <a:p>
            <a:endParaRPr lang="en-IN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Measure </a:t>
            </a:r>
            <a:r>
              <a:rPr lang="en-IN" b="1" dirty="0"/>
              <a:t>correlation between numerical variables </a:t>
            </a:r>
            <a:endParaRPr lang="en-IN" dirty="0"/>
          </a:p>
          <a:p>
            <a:endParaRPr lang="en-IN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IN" dirty="0" err="1"/>
              <a:t>Analyze</a:t>
            </a:r>
            <a:r>
              <a:rPr lang="en-IN" dirty="0"/>
              <a:t> </a:t>
            </a:r>
            <a:r>
              <a:rPr lang="en-IN" b="1" dirty="0"/>
              <a:t>skewness and kurtosis </a:t>
            </a:r>
            <a:endParaRPr lang="en-IN" dirty="0"/>
          </a:p>
          <a:p>
            <a:endParaRPr lang="en-IN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Extract statistically meaningful business insights </a:t>
            </a:r>
          </a:p>
          <a:p>
            <a:pPr lvl="0"/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280"/>
                </a:solidFill>
              </a:defRPr>
            </a:pPr>
            <a:r>
              <a:t>NextHikes IT Solutions  |  Aditi Umale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3832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D"/>
                </a:solidFill>
              </a:defRPr>
            </a:pPr>
            <a: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8404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280"/>
                </a:solidFill>
              </a:defRPr>
            </a:pPr>
            <a: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97280"/>
            <a:ext cx="2240280" cy="1051560"/>
          </a:xfrm>
          <a:prstGeom prst="roundRect">
            <a:avLst/>
          </a:prstGeom>
          <a:solidFill>
            <a:srgbClr val="ECF3FC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207007"/>
            <a:ext cx="2093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F66B0"/>
                </a:solidFill>
              </a:defRPr>
            </a:pPr>
            <a:r>
              <a:t>100,000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73352"/>
            <a:ext cx="2093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280"/>
                </a:solidFill>
              </a:defRPr>
            </a:pPr>
            <a:r>
              <a:t>Rows / Transactions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097280"/>
            <a:ext cx="2240280" cy="1051560"/>
          </a:xfrm>
          <a:prstGeom prst="roundRect">
            <a:avLst/>
          </a:prstGeom>
          <a:solidFill>
            <a:srgbClr val="E9F7F6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9272" y="1207007"/>
            <a:ext cx="2093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8B89"/>
                </a:solidFill>
              </a:defRPr>
            </a:pPr>
            <a: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1673352"/>
            <a:ext cx="2093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280"/>
                </a:solidFill>
              </a:defRPr>
            </a:pPr>
            <a:r>
              <a:t>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097280"/>
            <a:ext cx="2240280" cy="1051560"/>
          </a:xfrm>
          <a:prstGeom prst="roundRect">
            <a:avLst/>
          </a:prstGeom>
          <a:solidFill>
            <a:srgbClr val="ECF3FC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88152" y="1207007"/>
            <a:ext cx="2093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F66B0"/>
                </a:solidFill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1673352"/>
            <a:ext cx="2093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280"/>
                </a:solidFill>
              </a:defRPr>
            </a:pPr>
            <a:r>
              <a:t>Missing Values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097280"/>
            <a:ext cx="2240280" cy="1051560"/>
          </a:xfrm>
          <a:prstGeom prst="roundRect">
            <a:avLst/>
          </a:prstGeom>
          <a:solidFill>
            <a:srgbClr val="E9F7F6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1" y="1207007"/>
            <a:ext cx="2093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8B89"/>
                </a:solidFill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1673352"/>
            <a:ext cx="2093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280"/>
                </a:solidFill>
              </a:defRPr>
            </a:pPr>
            <a:r>
              <a:t>Duplicate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1253D"/>
                </a:solidFill>
              </a:defRPr>
            </a:pPr>
            <a:r>
              <a:t>What the data contains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880360"/>
            <a:ext cx="5486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E38"/>
                </a:solidFill>
              </a:defRPr>
            </a:pPr>
            <a:r>
              <a:t>• Customer attributes: age, gender, city, state, customer segment.</a:t>
            </a:r>
          </a:p>
          <a:p>
            <a:pPr>
              <a:spcAft>
                <a:spcPts val="700"/>
              </a:spcAft>
              <a:defRPr sz="1500">
                <a:solidFill>
                  <a:srgbClr val="262E38"/>
                </a:solidFill>
              </a:defRPr>
            </a:pPr>
            <a:r>
              <a:t>• Order &amp; product details: order date, product category and subcategory.</a:t>
            </a:r>
          </a:p>
          <a:p>
            <a:pPr>
              <a:spcAft>
                <a:spcPts val="700"/>
              </a:spcAft>
              <a:defRPr sz="1500">
                <a:solidFill>
                  <a:srgbClr val="262E38"/>
                </a:solidFill>
              </a:defRPr>
            </a:pPr>
            <a:r>
              <a:t>• Commercial variables: product_price, quantity, discount_percentage, final_price.</a:t>
            </a:r>
          </a:p>
          <a:p>
            <a:pPr>
              <a:spcAft>
                <a:spcPts val="700"/>
              </a:spcAft>
              <a:defRPr sz="1500">
                <a:solidFill>
                  <a:srgbClr val="262E38"/>
                </a:solidFill>
              </a:defRPr>
            </a:pPr>
            <a:r>
              <a:t>• Operational variables: payment method, shipping type, delivery days and return status.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1253D"/>
                </a:solidFill>
              </a:defRPr>
            </a:pPr>
            <a:r>
              <a:t>Primary outcome used in the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9260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F66B0"/>
                </a:solidFill>
              </a:defRPr>
            </a:pPr>
            <a:r>
              <a:t>final_price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520440"/>
            <a:ext cx="4297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2E38"/>
                </a:solidFill>
              </a:defRPr>
            </a:pPr>
            <a:r>
              <a:t>The notebook repeatedly uses final_price as the main spending / revenue outcome for distributions, relationships, outlier analysis and multivariate analysis.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8463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7280"/>
                </a:solidFill>
              </a:defRPr>
            </a:pPr>
            <a:r>
              <a:t>Note: it is the primary analysis outcome here, not a supervised ML target.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280"/>
                </a:solidFill>
              </a:defRPr>
            </a:pPr>
            <a:r>
              <a:t>NextHikes IT Solutions  |  Aditi Umale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3832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D"/>
                </a:solidFill>
              </a:defRPr>
            </a:pPr>
            <a:r>
              <a:t>Data Quality &amp; Variable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8404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280"/>
                </a:solidFill>
              </a:defRPr>
            </a:pPr>
            <a:r>
              <a:t>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97280"/>
            <a:ext cx="2468880" cy="1051560"/>
          </a:xfrm>
          <a:prstGeom prst="roundRect">
            <a:avLst/>
          </a:prstGeom>
          <a:solidFill>
            <a:srgbClr val="E9F7F6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207007"/>
            <a:ext cx="2322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8B89"/>
                </a:solidFill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73352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280"/>
                </a:solidFill>
              </a:defRPr>
            </a:pPr>
            <a:r>
              <a:t>Non-null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097280"/>
            <a:ext cx="2468880" cy="1051560"/>
          </a:xfrm>
          <a:prstGeom prst="roundRect">
            <a:avLst/>
          </a:prstGeom>
          <a:solidFill>
            <a:srgbClr val="ECF3FC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47872" y="1207007"/>
            <a:ext cx="2322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F66B0"/>
                </a:solidFill>
              </a:defRPr>
            </a:pPr>
            <a: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673352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280"/>
                </a:solidFill>
              </a:defRPr>
            </a:pPr>
            <a:r>
              <a:t>Numerical variables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097280"/>
            <a:ext cx="2468880" cy="1051560"/>
          </a:xfrm>
          <a:prstGeom prst="roundRect">
            <a:avLst/>
          </a:prstGeom>
          <a:solidFill>
            <a:srgbClr val="E9F7F6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45352" y="1207007"/>
            <a:ext cx="2322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8B89"/>
                </a:solidFill>
              </a:defRPr>
            </a:pPr>
            <a: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1673352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280"/>
                </a:solidFill>
              </a:defRPr>
            </a:pPr>
            <a:r>
              <a:t>Categorical / object fields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097280"/>
            <a:ext cx="1920240" cy="1051560"/>
          </a:xfrm>
          <a:prstGeom prst="roundRect">
            <a:avLst/>
          </a:prstGeom>
          <a:solidFill>
            <a:srgbClr val="ECF3FC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42832" y="1207007"/>
            <a:ext cx="1773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F66B0"/>
                </a:solidFill>
              </a:defRPr>
            </a:pPr>
            <a:r>
              <a:t>1,095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832" y="1673352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280"/>
                </a:solidFill>
              </a:defRPr>
            </a:pPr>
            <a:r>
              <a:t>Distinct order 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6517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6B0"/>
                </a:solidFill>
              </a:defRPr>
            </a:pPr>
            <a:r>
              <a:t>Numerical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2E38"/>
                </a:solidFill>
              </a:defRPr>
            </a:pPr>
            <a:r>
              <a:t>age • product_price • quantity • discount_percentage • final_price • delivery_days • return_status_num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651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8B89"/>
                </a:solidFill>
              </a:defRPr>
            </a:pPr>
            <a:r>
              <a:t>Categorical / object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063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E38"/>
                </a:solidFill>
              </a:defRPr>
            </a:pPr>
            <a:r>
              <a:t>customer_id • gender • city • state • customer_segment • order_id • order_date • product_category • product_subcategory • payment_method • shipping_type • return_status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834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1253D"/>
                </a:solidFill>
              </a:defRPr>
            </a:pPr>
            <a:r>
              <a:t>Quality checks in the notebook show no missing values and no duplicate rows.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280"/>
                </a:solidFill>
              </a:defRPr>
            </a:pPr>
            <a:r>
              <a:t>NextHikes IT Solutions  |  Aditi Umale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3832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D"/>
                </a:solidFill>
              </a:defRPr>
            </a:pPr>
            <a:r>
              <a:t>Univariate Analysis — Numerical Distributions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8404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280"/>
                </a:solidFill>
              </a:defRPr>
            </a:pPr>
            <a:r>
              <a:t>Univariate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2743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ell20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106424"/>
            <a:ext cx="2633472" cy="21305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474720" y="1051560"/>
            <a:ext cx="2743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ell20_ou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1106424"/>
            <a:ext cx="2633472" cy="21305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55080" y="1051560"/>
            <a:ext cx="2743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ell20_ou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1106424"/>
            <a:ext cx="2633472" cy="213055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35440" y="1051560"/>
            <a:ext cx="2331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ell20_out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4" y="1106424"/>
            <a:ext cx="2221991" cy="2130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3611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253D"/>
                </a:solidFill>
              </a:defRPr>
            </a:pPr>
            <a: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10561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2E38"/>
                </a:solidFill>
              </a:defRPr>
            </a:pPr>
            <a:r>
              <a:t>• Age: approximately symmetric (skewness ≈ 0).</a:t>
            </a:r>
          </a:p>
          <a:p>
            <a:pPr>
              <a:spcAft>
                <a:spcPts val="600"/>
              </a:spcAft>
              <a:defRPr sz="1500">
                <a:solidFill>
                  <a:srgbClr val="262E38"/>
                </a:solidFill>
              </a:defRPr>
            </a:pPr>
            <a:r>
              <a:t>• Product price: approximately symmetric, with values spread across its range.</a:t>
            </a:r>
          </a:p>
          <a:p>
            <a:pPr>
              <a:spcAft>
                <a:spcPts val="600"/>
              </a:spcAft>
              <a:defRPr sz="1500">
                <a:solidFill>
                  <a:srgbClr val="262E38"/>
                </a:solidFill>
              </a:defRPr>
            </a:pPr>
            <a:r>
              <a:t>• Quantity: discrete values 1–4, roughly balanced across the allowed quantities.</a:t>
            </a:r>
          </a:p>
          <a:p>
            <a:pPr>
              <a:spcAft>
                <a:spcPts val="600"/>
              </a:spcAft>
              <a:defRPr sz="1500">
                <a:solidFill>
                  <a:srgbClr val="262E38"/>
                </a:solidFill>
              </a:defRPr>
            </a:pPr>
            <a:r>
              <a:t>• Discount percentage: approximately symmetric across 0–30%.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7044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7280"/>
                </a:solidFill>
              </a:defRPr>
            </a:pPr>
            <a:r>
              <a:t>These charts show distribution shape; near-zero skewness indicates approximate symmetry, not proof of a normal distribution.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280"/>
                </a:solidFill>
              </a:defRPr>
            </a:pPr>
            <a:r>
              <a:t>NextHikes IT Solutions  |  Aditi Umale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3832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D"/>
                </a:solidFill>
              </a:defRPr>
            </a:pPr>
            <a:r>
              <a:t>Univariate Analysis — Key Outcome &amp;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8404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280"/>
                </a:solidFill>
              </a:defRPr>
            </a:pPr>
            <a:r>
              <a:t>Univariate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65760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ell20_ou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106424"/>
            <a:ext cx="3547872" cy="267919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480560" y="1051560"/>
            <a:ext cx="365760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ell20_out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1106424"/>
            <a:ext cx="3547872" cy="26791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21040" y="1051560"/>
            <a:ext cx="320040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ell20_out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1106424"/>
            <a:ext cx="3090672" cy="26791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41605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253D"/>
                </a:solidFill>
              </a:defRPr>
            </a:pPr>
            <a: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424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E38"/>
                </a:solidFill>
              </a:defRPr>
            </a:pPr>
            <a:r>
              <a:t>• final_price: moderately positively skewed (0.93), indicating a longer right tail and some high-value purchases.</a:t>
            </a:r>
          </a:p>
          <a:p>
            <a:pPr>
              <a:spcAft>
                <a:spcPts val="700"/>
              </a:spcAft>
              <a:defRPr sz="1500">
                <a:solidFill>
                  <a:srgbClr val="262E38"/>
                </a:solidFill>
              </a:defRPr>
            </a:pPr>
            <a:r>
              <a:t>• delivery_days: approximately symmetric with skewness close to 0.</a:t>
            </a:r>
          </a:p>
          <a:p>
            <a:pPr>
              <a:spcAft>
                <a:spcPts val="700"/>
              </a:spcAft>
              <a:defRPr sz="1500">
                <a:solidFill>
                  <a:srgbClr val="262E38"/>
                </a:solidFill>
              </a:defRPr>
            </a:pPr>
            <a:r>
              <a:t>• return_status_num: highly positively skewed (1.98) because the Yes class is much smaller than No.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715000"/>
            <a:ext cx="2971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5824728"/>
            <a:ext cx="28254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F66B0"/>
                </a:solidFill>
              </a:defRPr>
            </a:pPr>
            <a:r>
              <a:t>₹64,165.72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6291072"/>
            <a:ext cx="2825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280"/>
                </a:solidFill>
              </a:defRPr>
            </a:pPr>
            <a:r>
              <a:t>Mean final price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5715000"/>
            <a:ext cx="2971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50791" y="5824728"/>
            <a:ext cx="28254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8B89"/>
                </a:solidFill>
              </a:defRPr>
            </a:pPr>
            <a:r>
              <a:t>₹49,752.39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0791" y="6291072"/>
            <a:ext cx="2825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280"/>
                </a:solidFill>
              </a:defRPr>
            </a:pPr>
            <a:r>
              <a:t>Median final price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5715000"/>
            <a:ext cx="2971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05472" y="5824728"/>
            <a:ext cx="28254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F66B0"/>
                </a:solidFill>
              </a:defRPr>
            </a:pPr>
            <a:r>
              <a:t>5.51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2" y="6291072"/>
            <a:ext cx="2825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280"/>
                </a:solidFill>
              </a:defRPr>
            </a:pPr>
            <a:r>
              <a:t>Mean delivery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280"/>
                </a:solidFill>
              </a:defRPr>
            </a:pPr>
            <a:r>
              <a:t>NextHikes IT Solutions  |  Aditi Umale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3832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D"/>
                </a:solidFill>
              </a:defRPr>
            </a:pPr>
            <a:r>
              <a:t>Univariate Analysis — Categorical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8404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280"/>
                </a:solidFill>
              </a:defRPr>
            </a:pPr>
            <a:r>
              <a:t>Univariate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2743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ell24_ou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106424"/>
            <a:ext cx="2633472" cy="21305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474720" y="1051560"/>
            <a:ext cx="2743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ell24_out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1106424"/>
            <a:ext cx="2633472" cy="21305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55080" y="1051560"/>
            <a:ext cx="2743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ell24_out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1106424"/>
            <a:ext cx="2633472" cy="213055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35440" y="1051560"/>
            <a:ext cx="2331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ell24_out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4" y="1106424"/>
            <a:ext cx="2221991" cy="2130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3657600"/>
            <a:ext cx="10561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62E38"/>
                </a:solidFill>
              </a:defRPr>
            </a:pPr>
            <a:r>
              <a:t>• Product category: Health has the highest count (16,858), while Beauty is lowest (16,513); the categories are very close in size.</a:t>
            </a:r>
          </a:p>
          <a:p>
            <a:pPr>
              <a:spcAft>
                <a:spcPts val="600"/>
              </a:spcAft>
              <a:defRPr sz="1400">
                <a:solidFill>
                  <a:srgbClr val="262E38"/>
                </a:solidFill>
              </a:defRPr>
            </a:pPr>
            <a:r>
              <a:t>• Customer segment: New is highest (33,488), followed by Regular (33,361) and Premium (33,151).</a:t>
            </a:r>
          </a:p>
          <a:p>
            <a:pPr>
              <a:spcAft>
                <a:spcPts val="600"/>
              </a:spcAft>
              <a:defRPr sz="1400">
                <a:solidFill>
                  <a:srgbClr val="262E38"/>
                </a:solidFill>
              </a:defRPr>
            </a:pPr>
            <a:r>
              <a:t>• Payment method: Credit Card is highest (25,307); Debit Card is lowest (24,560).</a:t>
            </a:r>
          </a:p>
          <a:p>
            <a:pPr>
              <a:spcAft>
                <a:spcPts val="600"/>
              </a:spcAft>
              <a:defRPr sz="1400">
                <a:solidFill>
                  <a:srgbClr val="262E38"/>
                </a:solidFill>
              </a:defRPr>
            </a:pPr>
            <a:r>
              <a:t>• Return status: No is dominant (85,189; 85.19%) and Yes is 14,811 (14.81%).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280"/>
                </a:solidFill>
              </a:defRPr>
            </a:pPr>
            <a:r>
              <a:t>NextHikes IT Solutions  |  Aditi Umale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3832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D"/>
                </a:solidFill>
              </a:defRPr>
            </a:pPr>
            <a:r>
              <a:t>Outlier Detection — IQR &amp; Boxplots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8404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280"/>
                </a:solidFill>
              </a:defRPr>
            </a:pPr>
            <a:r>
              <a:t>Outliers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97280"/>
            <a:ext cx="2743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ell27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152144"/>
            <a:ext cx="2633472" cy="139903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474720" y="1097280"/>
            <a:ext cx="2743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ell27_ou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1152144"/>
            <a:ext cx="2633472" cy="139903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55080" y="1097280"/>
            <a:ext cx="2743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ell27_out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1152144"/>
            <a:ext cx="2633472" cy="139903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35440" y="109728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ell27_out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4" y="1152144"/>
            <a:ext cx="2221991" cy="139903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2971800"/>
            <a:ext cx="2514600" cy="1051560"/>
          </a:xfrm>
          <a:prstGeom prst="roundRect">
            <a:avLst/>
          </a:prstGeom>
          <a:solidFill>
            <a:srgbClr val="ECF3FC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081528"/>
            <a:ext cx="2368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F66B0"/>
                </a:solidFill>
              </a:defRPr>
            </a:pPr>
            <a:r>
              <a:t>1,335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547872"/>
            <a:ext cx="2368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280"/>
                </a:solidFill>
              </a:defRPr>
            </a:pPr>
            <a:r>
              <a:t>final_price IQR outliers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2971800"/>
            <a:ext cx="2514600" cy="1051560"/>
          </a:xfrm>
          <a:prstGeom prst="roundRect">
            <a:avLst/>
          </a:prstGeom>
          <a:solidFill>
            <a:srgbClr val="E9F7F6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47872" y="3081528"/>
            <a:ext cx="2368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8B89"/>
                </a:solidFill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547872"/>
            <a:ext cx="2368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280"/>
                </a:solidFill>
              </a:defRPr>
            </a:pPr>
            <a:r>
              <a:t>product_price IQR outliers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971800"/>
            <a:ext cx="2514600" cy="1051560"/>
          </a:xfrm>
          <a:prstGeom prst="roundRect">
            <a:avLst/>
          </a:prstGeom>
          <a:solidFill>
            <a:srgbClr val="ECF3FC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3081528"/>
            <a:ext cx="2368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F66B0"/>
                </a:solidFill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3547872"/>
            <a:ext cx="2368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280"/>
                </a:solidFill>
              </a:defRPr>
            </a:pPr>
            <a:r>
              <a:t>age IQR outliers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2971800"/>
            <a:ext cx="2514600" cy="1051560"/>
          </a:xfrm>
          <a:prstGeom prst="roundRect">
            <a:avLst/>
          </a:prstGeom>
          <a:solidFill>
            <a:srgbClr val="E9F7F6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34272" y="3081528"/>
            <a:ext cx="2368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8B89"/>
                </a:solidFill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4272" y="3547872"/>
            <a:ext cx="2368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280"/>
                </a:solidFill>
              </a:defRPr>
            </a:pPr>
            <a:r>
              <a:t>delivery_days IQR outliers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389120"/>
            <a:ext cx="10424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E38"/>
                </a:solidFill>
              </a:defRPr>
            </a:pPr>
            <a:r>
              <a:t>• The IQR method was applied using Q1 − 1.5×IQR and Q3 + 1.5×IQR.</a:t>
            </a:r>
          </a:p>
          <a:p>
            <a:pPr>
              <a:spcAft>
                <a:spcPts val="700"/>
              </a:spcAft>
              <a:defRPr sz="1500">
                <a:solidFill>
                  <a:srgbClr val="262E38"/>
                </a:solidFill>
              </a:defRPr>
            </a:pPr>
            <a:r>
              <a:t>• The clearest outlier presence in the notebook is in final_price, consistent with the long right tail seen in its distribution.</a:t>
            </a:r>
          </a:p>
          <a:p>
            <a:pPr>
              <a:spcAft>
                <a:spcPts val="700"/>
              </a:spcAft>
              <a:defRPr sz="1500">
                <a:solidFill>
                  <a:srgbClr val="262E38"/>
                </a:solidFill>
              </a:defRPr>
            </a:pPr>
            <a:r>
              <a:t>• The provided notebook documents detection with IQR and boxplots; a cap/clip fixing step is not shown, so the presentation does not claim that capping was completed.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280"/>
                </a:solidFill>
              </a:defRPr>
            </a:pPr>
            <a:r>
              <a:t>NextHikes IT Solutions  |  Aditi Umale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3832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D"/>
                </a:solidFill>
              </a:defRPr>
            </a:pPr>
            <a:r>
              <a:t>Bivariate Analysis — Numerical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8404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280"/>
                </a:solidFill>
              </a:defRPr>
            </a:pPr>
            <a:r>
              <a:t>Bivariate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6576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ell32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1106424"/>
            <a:ext cx="3547872" cy="27249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051560"/>
            <a:ext cx="36576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ell34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106424"/>
            <a:ext cx="3547872" cy="2724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46720" y="1051560"/>
            <a:ext cx="36576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ell36_ou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1106424"/>
            <a:ext cx="3547872" cy="27249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4160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253D"/>
                </a:solidFill>
              </a:defRPr>
            </a:pPr>
            <a: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26280"/>
            <a:ext cx="10515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E38"/>
                </a:solidFill>
              </a:defRPr>
            </a:pPr>
            <a:r>
              <a:t>• Product price vs final price: clear positive relationship; higher product prices generally correspond to higher final prices.</a:t>
            </a:r>
          </a:p>
          <a:p>
            <a:pPr>
              <a:spcAft>
                <a:spcPts val="700"/>
              </a:spcAft>
              <a:defRPr sz="1500">
                <a:solidFill>
                  <a:srgbClr val="262E38"/>
                </a:solidFill>
              </a:defRPr>
            </a:pPr>
            <a:r>
              <a:t>• Quantity vs final price: final price increases across quantity levels, with greater spread at higher quantities.</a:t>
            </a:r>
          </a:p>
          <a:p>
            <a:pPr>
              <a:spcAft>
                <a:spcPts val="700"/>
              </a:spcAft>
              <a:defRPr sz="1500">
                <a:solidFill>
                  <a:srgbClr val="262E38"/>
                </a:solidFill>
              </a:defRPr>
            </a:pPr>
            <a:r>
              <a:t>• Age vs spending: points are widely dispersed, so age alone does not show a strong linear relationship with final price.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280"/>
                </a:solidFill>
              </a:defRPr>
            </a:pPr>
            <a:r>
              <a:t>NextHikes IT Solutions  |  Aditi Umale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3832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D"/>
                </a:solidFill>
              </a:defRPr>
            </a:pPr>
            <a:r>
              <a:t>Bivariate Analysis — Customer, Shipping &amp;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8404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280"/>
                </a:solidFill>
              </a:defRPr>
            </a:pPr>
            <a:r>
              <a:t>Bivariate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34747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ell38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106424"/>
            <a:ext cx="3364991" cy="254203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51960" y="1051560"/>
            <a:ext cx="34747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ell40_ou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106424"/>
            <a:ext cx="3364991" cy="254203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909560" y="1051560"/>
            <a:ext cx="34747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ell42_ou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1106424"/>
            <a:ext cx="3364991" cy="2542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3977639"/>
            <a:ext cx="10515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E38"/>
                </a:solidFill>
              </a:defRPr>
            </a:pPr>
            <a:r>
              <a:t>• Customer segment vs average final price: the three segment averages are very close, with New / Premium / Regular clustered around the same level.</a:t>
            </a:r>
          </a:p>
          <a:p>
            <a:pPr>
              <a:spcAft>
                <a:spcPts val="700"/>
              </a:spcAft>
              <a:defRPr sz="1500">
                <a:solidFill>
                  <a:srgbClr val="262E38"/>
                </a:solidFill>
              </a:defRPr>
            </a:pPr>
            <a:r>
              <a:t>• Delivery days vs return probability: the notebook plots return status against delivery days after encoding return status as 0/1; the visible pattern is not a strong linear trend.</a:t>
            </a:r>
          </a:p>
          <a:p>
            <a:pPr>
              <a:spcAft>
                <a:spcPts val="700"/>
              </a:spcAft>
              <a:defRPr sz="1500">
                <a:solidFill>
                  <a:srgbClr val="262E38"/>
                </a:solidFill>
              </a:defRPr>
            </a:pPr>
            <a:r>
              <a:t>• Shipping type vs delivery days: Express and Standard show very similar average delivery times.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280"/>
                </a:solidFill>
              </a:defRPr>
            </a:pPr>
            <a:r>
              <a:t>NextHikes IT Solutions  |  Aditi Umale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3832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D"/>
                </a:solidFill>
              </a:defRPr>
            </a:pPr>
            <a:r>
              <a:t>Multivariate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8404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280"/>
                </a:solidFill>
              </a:defRPr>
            </a:pPr>
            <a:r>
              <a:t>Multivariate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3749039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ell47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078992"/>
            <a:ext cx="3639311" cy="25877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024128"/>
            <a:ext cx="3749039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ell49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078992"/>
            <a:ext cx="3639311" cy="25877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92440" y="1024128"/>
            <a:ext cx="3749039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ell51_ou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1078992"/>
            <a:ext cx="3639311" cy="2587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3977639"/>
            <a:ext cx="10515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E38"/>
                </a:solidFill>
              </a:defRPr>
            </a:pPr>
            <a:r>
              <a:t>• Product Category × Discount × Final Price: compares total revenue patterns across categories and discount levels.</a:t>
            </a:r>
          </a:p>
          <a:p>
            <a:pPr>
              <a:spcAft>
                <a:spcPts val="700"/>
              </a:spcAft>
              <a:defRPr sz="1500">
                <a:solidFill>
                  <a:srgbClr val="262E38"/>
                </a:solidFill>
              </a:defRPr>
            </a:pPr>
            <a:r>
              <a:t>• Customer Segment × Age × Spending: examines spending distributions across age bands within each customer segment.</a:t>
            </a:r>
          </a:p>
          <a:p>
            <a:pPr>
              <a:spcAft>
                <a:spcPts val="700"/>
              </a:spcAft>
              <a:defRPr sz="1500">
                <a:solidFill>
                  <a:srgbClr val="262E38"/>
                </a:solidFill>
              </a:defRPr>
            </a:pPr>
            <a:r>
              <a:t>• Delivery Days × Shipping Type × Return Status: combines shipping type, delivery bands and return status in one 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280"/>
                </a:solidFill>
              </a:defRPr>
            </a:pPr>
            <a:r>
              <a:t>NextHikes IT Solutions  |  Aditi Umale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3832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D"/>
                </a:solidFill>
              </a:defRPr>
            </a:pPr>
            <a:r>
              <a:t>Correlation Matrix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8404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280"/>
                </a:solidFill>
              </a:defRPr>
            </a:pPr>
            <a:r>
              <a:t>Correlation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24128"/>
            <a:ext cx="64008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ell44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078992"/>
            <a:ext cx="6291072" cy="5010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253D"/>
                </a:solidFill>
              </a:defRPr>
            </a:pPr>
            <a:r>
              <a:t>Key relationships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91640"/>
            <a:ext cx="4069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2E38"/>
                </a:solidFill>
              </a:defRPr>
            </a:pPr>
            <a:r>
              <a:t>• product_price ↔ final_price: about +0.73, the strongest highlighted positive relationship.</a:t>
            </a:r>
          </a:p>
          <a:p>
            <a:pPr>
              <a:spcAft>
                <a:spcPts val="900"/>
              </a:spcAft>
              <a:defRPr sz="1600">
                <a:solidFill>
                  <a:srgbClr val="262E38"/>
                </a:solidFill>
              </a:defRPr>
            </a:pPr>
            <a:r>
              <a:t>• quantity ↔ final_price: about +0.58, also positively associated.</a:t>
            </a:r>
          </a:p>
          <a:p>
            <a:pPr>
              <a:spcAft>
                <a:spcPts val="900"/>
              </a:spcAft>
              <a:defRPr sz="1600">
                <a:solidFill>
                  <a:srgbClr val="262E38"/>
                </a:solidFill>
              </a:defRPr>
            </a:pPr>
            <a:r>
              <a:t>• discount_percentage ↔ final_price: small negative relationship in the matrix.</a:t>
            </a:r>
          </a:p>
          <a:p>
            <a:pPr>
              <a:spcAft>
                <a:spcPts val="900"/>
              </a:spcAft>
              <a:defRPr sz="1600">
                <a:solidFill>
                  <a:srgbClr val="262E38"/>
                </a:solidFill>
              </a:defRPr>
            </a:pPr>
            <a:r>
              <a:t>• return-related variables have weaker relationships with the main spending variables.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892040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7280"/>
                </a:solidFill>
              </a:defRPr>
            </a:pPr>
            <a:r>
              <a:t>Pearson correlation was used for numerical variables.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280"/>
                </a:solidFill>
              </a:defRPr>
            </a:pPr>
            <a:r>
              <a:t>NextHikes IT Solutions  |  Aditi Umale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3832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D"/>
                </a:solidFill>
              </a:defRPr>
            </a:pPr>
            <a:r>
              <a:t>Skewness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8404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280"/>
                </a:solidFill>
              </a:defRPr>
            </a:pPr>
            <a:r>
              <a:t>Distribution Shape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6492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kewnes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106424"/>
            <a:ext cx="6382512" cy="44165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253D"/>
                </a:solidFill>
              </a:defRPr>
            </a:pPr>
            <a:r>
              <a:t>Notebook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73736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2E38"/>
                </a:solidFill>
              </a:defRPr>
            </a:pPr>
            <a:r>
              <a:t>• Age, product_price, quantity, discount_percentage and delivery_days are approximately symmetric.</a:t>
            </a:r>
          </a:p>
          <a:p>
            <a:pPr>
              <a:spcAft>
                <a:spcPts val="800"/>
              </a:spcAft>
              <a:defRPr sz="1500">
                <a:solidFill>
                  <a:srgbClr val="262E38"/>
                </a:solidFill>
              </a:defRPr>
            </a:pPr>
            <a:r>
              <a:t>• final_price is moderately positively skewed (0.93).</a:t>
            </a:r>
          </a:p>
          <a:p>
            <a:pPr>
              <a:spcAft>
                <a:spcPts val="800"/>
              </a:spcAft>
              <a:defRPr sz="1500">
                <a:solidFill>
                  <a:srgbClr val="262E38"/>
                </a:solidFill>
              </a:defRPr>
            </a:pPr>
            <a:r>
              <a:t>• return_status_num is highly positively skewed (1.98), reflecting the imbalanced binary outcome.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709160"/>
            <a:ext cx="3474720" cy="914400"/>
          </a:xfrm>
          <a:prstGeom prst="roundRect">
            <a:avLst/>
          </a:prstGeom>
          <a:solidFill>
            <a:srgbClr val="ECF3FC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79792" y="4818888"/>
            <a:ext cx="3328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F66B0"/>
                </a:solidFill>
              </a:defRPr>
            </a:pPr>
            <a:r>
              <a:t>0.9347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5285232"/>
            <a:ext cx="3328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280"/>
                </a:solidFill>
              </a:defRPr>
            </a:pPr>
            <a:r>
              <a:t>final_price skewness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280"/>
                </a:solidFill>
              </a:defRPr>
            </a:pPr>
            <a:r>
              <a:t>NextHikes IT Solutions  |  Aditi Umale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3832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D"/>
                </a:solidFill>
              </a:defRPr>
            </a:pPr>
            <a:r>
              <a:t>Kurtosis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8404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280"/>
                </a:solidFill>
              </a:defRPr>
            </a:pPr>
            <a:r>
              <a:t>Distribution Shape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6492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kurtosi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106424"/>
            <a:ext cx="6382512" cy="44165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253D"/>
                </a:solidFill>
              </a:defRPr>
            </a:pPr>
            <a:r>
              <a:t>Notebook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737360"/>
            <a:ext cx="3886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2E38"/>
                </a:solidFill>
              </a:defRPr>
            </a:pPr>
            <a:r>
              <a:t>• All reported variables fall under the notebook's 'Normal-to-low kurtosis (thin tails)' rule because none exceed 3.</a:t>
            </a:r>
          </a:p>
          <a:p>
            <a:pPr>
              <a:spcAft>
                <a:spcPts val="800"/>
              </a:spcAft>
              <a:defRPr sz="1500">
                <a:solidFill>
                  <a:srgbClr val="262E38"/>
                </a:solidFill>
              </a:defRPr>
            </a:pPr>
            <a:r>
              <a:t>• final_price kurtosis is 0.17, indicating a relatively moderate tail measure despite its right skew.</a:t>
            </a:r>
          </a:p>
          <a:p>
            <a:pPr>
              <a:spcAft>
                <a:spcPts val="800"/>
              </a:spcAft>
              <a:defRPr sz="1500">
                <a:solidFill>
                  <a:srgbClr val="262E38"/>
                </a:solidFill>
              </a:defRPr>
            </a:pPr>
            <a:r>
              <a:t>• return_status_num kurtosis is 1.93; it remains below the notebook's heavy-tail threshold of 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709160"/>
            <a:ext cx="3474720" cy="914400"/>
          </a:xfrm>
          <a:prstGeom prst="roundRect">
            <a:avLst/>
          </a:prstGeom>
          <a:solidFill>
            <a:srgbClr val="E9F7F6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79792" y="4818888"/>
            <a:ext cx="3328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8B89"/>
                </a:solidFill>
              </a:defRPr>
            </a:pPr>
            <a:r>
              <a:t>0.1690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5285232"/>
            <a:ext cx="3328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280"/>
                </a:solidFill>
              </a:defRPr>
            </a:pPr>
            <a:r>
              <a:t>final_price kurtosis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280"/>
                </a:solidFill>
              </a:defRPr>
            </a:pPr>
            <a:r>
              <a:t>NextHikes IT Solutions  |  Aditi Umale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3832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D"/>
                </a:solidFill>
              </a:defRPr>
            </a:pPr>
            <a:r>
              <a:t>Retail Transaction EDA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8404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280"/>
                </a:solidFill>
              </a:defRPr>
            </a:pPr>
            <a:r>
              <a:t>Visual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1083564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ell56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014984"/>
            <a:ext cx="10725912" cy="5330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280"/>
                </a:solidFill>
              </a:defRPr>
            </a:pPr>
            <a:r>
              <a:t>NextHikes IT Solutions  |  Aditi Umale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3832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D"/>
                </a:solidFill>
              </a:defRPr>
            </a:pPr>
            <a:r>
              <a:t>Conclusion —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8404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280"/>
                </a:solidFill>
              </a:defRPr>
            </a:pPr>
            <a:r>
              <a:t>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2E38"/>
                </a:solidFill>
              </a:defRPr>
            </a:pPr>
            <a:r>
              <a:t>• The dataset contains 100,000 retail transactions across 18 variables with no missing values and no duplicate rows.</a:t>
            </a:r>
          </a:p>
          <a:p>
            <a:pPr>
              <a:spcAft>
                <a:spcPts val="800"/>
              </a:spcAft>
              <a:defRPr sz="1600">
                <a:solidFill>
                  <a:srgbClr val="262E38"/>
                </a:solidFill>
              </a:defRPr>
            </a:pPr>
            <a:r>
              <a:t>• Most numerical variables are approximately symmetric, while final_price is moderately right-skewed.</a:t>
            </a:r>
          </a:p>
          <a:p>
            <a:pPr>
              <a:spcAft>
                <a:spcPts val="800"/>
              </a:spcAft>
              <a:defRPr sz="1600">
                <a:solidFill>
                  <a:srgbClr val="262E38"/>
                </a:solidFill>
              </a:defRPr>
            </a:pPr>
            <a:r>
              <a:t>• Product price has the clearest relationship with final price; quantity also shows a positive association.</a:t>
            </a:r>
          </a:p>
          <a:p>
            <a:pPr>
              <a:spcAft>
                <a:spcPts val="800"/>
              </a:spcAft>
              <a:defRPr sz="1600">
                <a:solidFill>
                  <a:srgbClr val="262E38"/>
                </a:solidFill>
              </a:defRPr>
            </a:pPr>
            <a:r>
              <a:t>• Categorical distributions are fairly balanced for product category, customer segment and payment method, while returns are imbalanced (14.81% Yes).</a:t>
            </a:r>
          </a:p>
          <a:p>
            <a:pPr>
              <a:spcAft>
                <a:spcPts val="800"/>
              </a:spcAft>
              <a:defRPr sz="1600">
                <a:solidFill>
                  <a:srgbClr val="262E38"/>
                </a:solidFill>
              </a:defRPr>
            </a:pPr>
            <a:r>
              <a:t>• Outlier detection identifies 1,335 final_price observations under the IQR rule, highlighting a small set of high-value transactions.</a:t>
            </a:r>
          </a:p>
          <a:p>
            <a:pPr>
              <a:spcAft>
                <a:spcPts val="800"/>
              </a:spcAft>
              <a:defRPr sz="1600">
                <a:solidFill>
                  <a:srgbClr val="262E38"/>
                </a:solidFill>
              </a:defRPr>
            </a:pPr>
            <a:r>
              <a:t>• Multivariate views show how category, discount, age, shipping and delivery interact with spending and returns.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68B89"/>
                </a:solidFill>
              </a:defRPr>
            </a:pPr>
            <a:r>
              <a:t>Overall: the EDA converts a large transaction table into interpretable distribution, relationship and interaction patterns.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280"/>
                </a:solidFill>
              </a:defRPr>
            </a:pPr>
            <a:r>
              <a:t>NextHikes IT Solutions  |  Aditi Umale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3832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D"/>
                </a:solidFill>
              </a:defRPr>
            </a:pPr>
            <a:r>
              <a:t>Tools &amp; Techniques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8404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280"/>
                </a:solidFill>
              </a:defRPr>
            </a:pPr>
            <a:r>
              <a:t>Technical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356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68B89"/>
                </a:solidFill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280"/>
                </a:solidFill>
              </a:defRPr>
            </a:pPr>
            <a:r>
              <a:t>Core programming and EDA environment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23444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4356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F66B0"/>
                </a:solidFill>
              </a:defRPr>
            </a:pPr>
            <a:r>
              <a:t>Pandas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280"/>
                </a:solidFill>
              </a:defRPr>
            </a:pPr>
            <a:r>
              <a:t>Loading, cleaning, grouping and statistics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23444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59" y="14356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68B89"/>
                </a:solidFill>
              </a:defRPr>
            </a:pPr>
            <a:r>
              <a:t>NumPy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19202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280"/>
                </a:solidFill>
              </a:defRPr>
            </a:pPr>
            <a:r>
              <a:t>Numerical computation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29184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493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F66B0"/>
                </a:solidFill>
              </a:defRPr>
            </a:pPr>
            <a:r>
              <a:t>Matplotlib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77639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280"/>
                </a:solidFill>
              </a:defRPr>
            </a:pPr>
            <a:r>
              <a:t>Plotting and chart layout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329184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3493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68B89"/>
                </a:solidFill>
              </a:defRPr>
            </a:pPr>
            <a:r>
              <a:t>Seaborn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977639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280"/>
                </a:solidFill>
              </a:defRPr>
            </a:pPr>
            <a:r>
              <a:t>Statistical visualization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29184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59" y="3493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F66B0"/>
                </a:solidFill>
              </a:defRPr>
            </a:pPr>
            <a:r>
              <a:t>Techniques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3977639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280"/>
                </a:solidFill>
              </a:defRPr>
            </a:pPr>
            <a:r>
              <a:t>Univariate • Bivariate • Multivariate • Pearson correlation • IQR outlier detection • Skewness • Kurtosis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280"/>
                </a:solidFill>
              </a:defRPr>
            </a:pPr>
            <a:r>
              <a:t>NextHikes IT Solutions  |  Aditi Umale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1253D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8892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667280"/>
                </a:solidFill>
              </a:defRPr>
            </a:pPr>
            <a:r>
              <a:t>Exploratory Data Analysis of Large-Scale Retail Transaction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68B89"/>
                </a:solidFill>
              </a:defRPr>
            </a:pPr>
            <a:r>
              <a:t>Aditi Umale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159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1253D"/>
                </a:solidFill>
              </a:defRPr>
            </a:pPr>
            <a:r>
              <a:t>NextHikes IT Solutions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280"/>
                </a:solidFill>
              </a:defRPr>
            </a:pPr>
            <a:r>
              <a:t>NextHikes IT Solutions  |  Aditi Umale  |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1424</Words>
  <Application>Microsoft Office PowerPoint</Application>
  <PresentationFormat>Widescreen</PresentationFormat>
  <Paragraphs>176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Aditi Umale</dc:creator>
  <cp:keywords/>
  <dc:description>generated using python-pptx</dc:description>
  <cp:lastModifiedBy>aditi umale</cp:lastModifiedBy>
  <cp:revision>2</cp:revision>
  <dcterms:created xsi:type="dcterms:W3CDTF">2013-01-27T09:14:16Z</dcterms:created>
  <dcterms:modified xsi:type="dcterms:W3CDTF">2026-09-25T14:45:52Z</dcterms:modified>
  <cp:category/>
</cp:coreProperties>
</file>